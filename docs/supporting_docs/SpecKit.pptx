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69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1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0_Picture 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920240" cy="484632"/>
          </a:xfrm>
          <a:prstGeom prst="rect">
            <a:avLst/>
          </a:prstGeom>
        </p:spPr>
      </p:pic>
      <p:pic>
        <p:nvPicPr>
          <p:cNvPr id="4" name="Image 1" descr="/home/claude/layout0_Picture 3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914400"/>
            <a:ext cx="12188952" cy="4937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457200" y="3291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for Developers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27, 2026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Spec-Kit?  (Specifications)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11887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17830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Spec-driven development (SDD) is a software engineering approach where a detailed, structured, and often machine-readable specification is created before any code is written, serving as the single source of truth for implementation, testing, and documentation.</a:t>
            </a:r>
          </a:p>
        </p:txBody>
      </p:sp>
      <p:sp>
        <p:nvSpPr>
          <p:cNvPr id="8" name="Shape 4"/>
          <p:cNvSpPr/>
          <p:nvPr/>
        </p:nvSpPr>
        <p:spPr>
          <a:xfrm>
            <a:off x="411480" y="2633472"/>
            <a:ext cx="3017520" cy="35204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11480" y="2633472"/>
            <a:ext cx="3017520" cy="438912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21208" y="26334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 Greenfield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9496" y="3145536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high-level requirements, create specifications, plan implementation, and build production-ready apps.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0" y="2633472"/>
            <a:ext cx="3017520" cy="35204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0" y="2633472"/>
            <a:ext cx="3017520" cy="438912"/>
          </a:xfrm>
          <a:prstGeom prst="rect">
            <a:avLst/>
          </a:prstGeom>
          <a:solidFill>
            <a:srgbClr val="A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767328" y="26334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Exploration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85616" y="3145536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diverse, parallel implementations across multiple technology stacks and architectures to find the optimal solution.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903720" y="2633472"/>
            <a:ext cx="3017520" cy="35204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03720" y="2633472"/>
            <a:ext cx="3017520" cy="438912"/>
          </a:xfrm>
          <a:prstGeom prst="rect">
            <a:avLst/>
          </a:prstGeom>
          <a:solidFill>
            <a:srgbClr val="E8D9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013448" y="26334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/ Iterative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031736" y="3145536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features incrementally to existing codebases, modernize legacy systems, and adapt processes for evolving requirements.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251960" y="6199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.9k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172200" y="6199632"/>
            <a:ext cx="1783080" cy="50292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172200" y="6199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Supported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6199632"/>
            <a:ext cx="1783080" cy="50292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92440" y="6199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License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8-Phase Workflow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8872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65760" y="1188720"/>
            <a:ext cx="2212848" cy="43891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11887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16642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75488" y="224028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23317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/speckit.constitution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96896" y="234086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761488" y="227685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2798064" y="118872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798064" y="1188720"/>
            <a:ext cx="2212848" cy="438912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98064" y="11887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98064" y="16642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2907792" y="224028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798064" y="23317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0" y="234086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93792" y="227685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30368" y="118872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230368" y="1188720"/>
            <a:ext cx="2212848" cy="43891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30368" y="11887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230368" y="16642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340096" y="224028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230368" y="23317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/speckit.clarify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7461504" y="234086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626096" y="227685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662672" y="118872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662672" y="1188720"/>
            <a:ext cx="2212848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662672" y="118872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662672" y="166420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7772400" y="224028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662672" y="23317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/speckit.plan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65760" y="379476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365760" y="3794760"/>
            <a:ext cx="2212848" cy="438912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65760" y="379476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65760" y="42702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700" dirty="0"/>
          </a:p>
        </p:txBody>
      </p:sp>
      <p:sp>
        <p:nvSpPr>
          <p:cNvPr id="40" name="Shape 36"/>
          <p:cNvSpPr/>
          <p:nvPr/>
        </p:nvSpPr>
        <p:spPr>
          <a:xfrm>
            <a:off x="475488" y="484632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365760" y="49377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/speckit.checklist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2596896" y="494690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2761488" y="488289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2798064" y="379476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2798064" y="3794760"/>
            <a:ext cx="2212848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2798064" y="379476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2798064" y="42702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700" dirty="0"/>
          </a:p>
        </p:txBody>
      </p:sp>
      <p:sp>
        <p:nvSpPr>
          <p:cNvPr id="48" name="Shape 44"/>
          <p:cNvSpPr/>
          <p:nvPr/>
        </p:nvSpPr>
        <p:spPr>
          <a:xfrm>
            <a:off x="2907792" y="484632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2798064" y="49377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/speckit.tasks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5029200" y="494690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7"/>
          <p:cNvSpPr/>
          <p:nvPr/>
        </p:nvSpPr>
        <p:spPr>
          <a:xfrm>
            <a:off x="5193792" y="488289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5230368" y="379476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5230368" y="3794760"/>
            <a:ext cx="2212848" cy="438912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5230368" y="379476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5230368" y="42702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700" dirty="0"/>
          </a:p>
        </p:txBody>
      </p:sp>
      <p:sp>
        <p:nvSpPr>
          <p:cNvPr id="56" name="Shape 52"/>
          <p:cNvSpPr/>
          <p:nvPr/>
        </p:nvSpPr>
        <p:spPr>
          <a:xfrm>
            <a:off x="5340096" y="484632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5230368" y="49377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/speckit.analyze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7461504" y="4946904"/>
            <a:ext cx="1828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7626096" y="4882896"/>
            <a:ext cx="64008" cy="128016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7662672" y="3794760"/>
            <a:ext cx="2212848" cy="2331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7"/>
          <p:cNvSpPr/>
          <p:nvPr/>
        </p:nvSpPr>
        <p:spPr>
          <a:xfrm>
            <a:off x="7662672" y="3794760"/>
            <a:ext cx="2212848" cy="43891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7662672" y="3794760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300" dirty="0"/>
          </a:p>
        </p:txBody>
      </p:sp>
      <p:sp>
        <p:nvSpPr>
          <p:cNvPr id="63" name="Text 59"/>
          <p:cNvSpPr/>
          <p:nvPr/>
        </p:nvSpPr>
        <p:spPr>
          <a:xfrm>
            <a:off x="7662672" y="42702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64" name="Shape 60"/>
          <p:cNvSpPr/>
          <p:nvPr/>
        </p:nvSpPr>
        <p:spPr>
          <a:xfrm>
            <a:off x="7772400" y="4846320"/>
            <a:ext cx="1993392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7662672" y="49377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/speckit.implement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1–4: Define &amp; Design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0040" y="1115568"/>
            <a:ext cx="2286000" cy="4754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004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Constitution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9319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/speckit.constitution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1148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2976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governing principles for the entire project.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148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6344" y="2980944"/>
            <a:ext cx="914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2179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.specify/memory/constitution.md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" y="3602736"/>
            <a:ext cx="914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179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code quality &amp; testing standards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" y="4224528"/>
            <a:ext cx="914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179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 every subsequent phase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" y="4846320"/>
            <a:ext cx="914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2179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per project at kickoff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78892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788920" y="1115568"/>
            <a:ext cx="2286000" cy="47548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78892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Specify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286207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88036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289864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your vision into structured requirements &amp; user stories.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88036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935224" y="2980944"/>
            <a:ext cx="91440" cy="9144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09067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WHAT, not HOW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935224" y="3602736"/>
            <a:ext cx="91440" cy="9144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09067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spec.md with user stories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2935224" y="4224528"/>
            <a:ext cx="91440" cy="9144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09067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a Git feature branch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2935224" y="4846320"/>
            <a:ext cx="91440" cy="9144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09067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mention tech stack yet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25780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257800" y="1115568"/>
            <a:ext cx="228600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25780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Clarify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533095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/speckit.clarify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34924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36752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ambiguities before planning to reduce rework.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34924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5404104" y="2980944"/>
            <a:ext cx="91440" cy="914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55955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coverage-based Q&amp;A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404104" y="3602736"/>
            <a:ext cx="91440" cy="914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555955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spec.md Clarifications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404104" y="4224528"/>
            <a:ext cx="91440" cy="914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555955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 /speckit.plan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5404104" y="4846320"/>
            <a:ext cx="91440" cy="914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55955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acceptance checklist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772668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7726680" y="1115568"/>
            <a:ext cx="228600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772668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</a:t>
            </a:r>
            <a:endParaRPr lang="en-US" sz="1500" dirty="0"/>
          </a:p>
        </p:txBody>
      </p:sp>
      <p:sp>
        <p:nvSpPr>
          <p:cNvPr id="54" name="Text 50"/>
          <p:cNvSpPr/>
          <p:nvPr/>
        </p:nvSpPr>
        <p:spPr>
          <a:xfrm>
            <a:off x="779983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/speckit.plan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781812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783640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requirements into a technical implementation plan.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781812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7872984" y="2980944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802843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specify your tech stack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7872984" y="3602736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802843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plan.md + data-model.md</a:t>
            </a:r>
            <a:endParaRPr lang="en-US" sz="1200" dirty="0"/>
          </a:p>
        </p:txBody>
      </p:sp>
      <p:sp>
        <p:nvSpPr>
          <p:cNvPr id="62" name="Shape 58"/>
          <p:cNvSpPr/>
          <p:nvPr/>
        </p:nvSpPr>
        <p:spPr>
          <a:xfrm>
            <a:off x="7872984" y="4224528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802843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API contracts &amp; specs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7872984" y="4846320"/>
            <a:ext cx="9144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802843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research.md for new tech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5–8: Validate &amp; Build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0040" y="1115568"/>
            <a:ext cx="2286000" cy="475488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004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Checklist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9319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/speckit.checklist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1148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2976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quality checklists — "unit tests for English."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148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6344" y="2980944"/>
            <a:ext cx="9144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2179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validation for completeness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" y="3602736"/>
            <a:ext cx="9144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179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consistency audit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" y="4224528"/>
            <a:ext cx="9144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179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but highly valuable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" y="4846320"/>
            <a:ext cx="9144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2179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Clarify, before Plan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78892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788920" y="1115568"/>
            <a:ext cx="228600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78892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Tasks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286207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/speckit.tasks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88036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289864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plan into ordered, actionable tasks.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88036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935224" y="2980944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09067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tasks.md per user story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935224" y="3602736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09067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task ordering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2935224" y="4224528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09067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[P] markers for parallel tasks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2935224" y="4846320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09067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TDD-friendly structure built in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25780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257800" y="1115568"/>
            <a:ext cx="2286000" cy="47548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25780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Analyze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533095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/speckit.analyze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34924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36752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Cross-artifact consistency &amp; coverage analysis.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34924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5404104" y="2980944"/>
            <a:ext cx="91440" cy="9144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55955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AFTER tasks, BEFORE implement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404104" y="3602736"/>
            <a:ext cx="91440" cy="9144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555955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spec ↔ plan gaps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404104" y="4224528"/>
            <a:ext cx="91440" cy="9144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555955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contradictions early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5404104" y="4846320"/>
            <a:ext cx="91440" cy="9144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55955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safety net pre-coding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7726680" y="1115568"/>
            <a:ext cx="2286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7726680" y="1115568"/>
            <a:ext cx="2286000" cy="4754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7726680" y="1115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Implement</a:t>
            </a:r>
            <a:endParaRPr lang="en-US" sz="1500" dirty="0"/>
          </a:p>
        </p:txBody>
      </p:sp>
      <p:sp>
        <p:nvSpPr>
          <p:cNvPr id="54" name="Text 50"/>
          <p:cNvSpPr/>
          <p:nvPr/>
        </p:nvSpPr>
        <p:spPr>
          <a:xfrm>
            <a:off x="7799832" y="1618488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/speckit.implement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7818120" y="199339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7836408" y="2048256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all tasks to build the feature.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7818120" y="2862072"/>
            <a:ext cx="2103120" cy="182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7872984" y="2980944"/>
            <a:ext cx="91440" cy="91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8028432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prerequisites first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7872984" y="3602736"/>
            <a:ext cx="91440" cy="91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8028432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dependency ordering</a:t>
            </a:r>
            <a:endParaRPr lang="en-US" sz="1200" dirty="0"/>
          </a:p>
        </p:txBody>
      </p:sp>
      <p:sp>
        <p:nvSpPr>
          <p:cNvPr id="62" name="Shape 58"/>
          <p:cNvSpPr/>
          <p:nvPr/>
        </p:nvSpPr>
        <p:spPr>
          <a:xfrm>
            <a:off x="7872984" y="4224528"/>
            <a:ext cx="91440" cy="91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8028432" y="4169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CLI tools (npm, dotnet…)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7872984" y="4846320"/>
            <a:ext cx="91440" cy="914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8028432" y="4791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progress updates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Management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70432"/>
            <a:ext cx="4572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65760" y="1170432"/>
            <a:ext cx="45720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1170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17830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accumulation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97280" y="2011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spec-kit sessions build up thousands of tokens across multiple artifact files.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97280" y="26791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drift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97280" y="2907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lose awareness of earlier decisions as conversation length grows.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97280" y="35753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errors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97280" y="3803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may "forget" requirements defined in earlier phases, causing misaligned output.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097280" y="4471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gaps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97280" y="47000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documents may reference specs no longer held in the active context window.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097280" y="53675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Over-eager additions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97280" y="55961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may add unrequested components to fill perceived gaps in underspecified areas.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257800" y="1170432"/>
            <a:ext cx="4572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257800" y="1170432"/>
            <a:ext cx="45720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257800" y="1170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Guidelines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5422392" y="1783080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4223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989320" y="17830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Feature-first branching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989320" y="2011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its own Git branch + isolated .specify/specs/ folder to contain context per feature.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422392" y="2679192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42239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989320" y="26791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as memory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5989320" y="29077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constitution.md, spec.md, plan.md, and tasks.md serve as persistent memory the agent can re-read on demand.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5422392" y="3575304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422392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5989320" y="357530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gating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5989320" y="3803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fully validate each phase before advancing. Prevents context contamination from partial work.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5422392" y="4471416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5422392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5989320" y="4471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re-reads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5989320" y="470001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sessions, prompt: "Re-read the constitution and spec before planning" to restore context.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5422392" y="5367528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5422392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5989320" y="53675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 tasks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5989320" y="55961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/speckit.tasks breaks implementation into small, independently verifiable units that minimize per-task context load.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70432"/>
            <a:ext cx="4572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65760" y="1170432"/>
            <a:ext cx="45720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1170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30352" y="1764792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31520" y="177393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outcomes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00253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phases eliminate vibe-coding randomness — you always know what each step produces.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0352" y="2514600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31520" y="252374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Tech-agnostic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2752344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stack (.NET, Node, Python, Blazor, React) — the process is always the same.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0352" y="3264408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31520" y="32735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350215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files serve as project memory across sessions and team members.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0352" y="4014216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31520" y="4023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support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4251960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agents supported — no vendor lock-in for your team or organization.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30352" y="4764024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31520" y="47731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rework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31520" y="500176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phase and acceptance checklists catch misunderstandings before code is written.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30352" y="5513832"/>
            <a:ext cx="109728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31520" y="552297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scalability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31520" y="575157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+ plans make AI-generated work reviewable, auditable, and fully Git-trackable.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257800" y="1170432"/>
            <a:ext cx="457200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257800" y="1170432"/>
            <a:ext cx="4572000" cy="45720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257800" y="1170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22392" y="1764792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623560" y="177393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time investment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623560" y="200253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+ Specify + Clarify + Plan takes time before a single line of code is written.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22392" y="2514600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623560" y="252374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Over-engineered output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623560" y="2752344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be over-eager, adding unrequested components. Requires active review.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422392" y="3264408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623560" y="327355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5623560" y="350215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projects challenge AI memory. Requires discipline with file re-reads and phase isolation.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422392" y="4014216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5623560" y="40233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debt risk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5623560" y="4251960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specs drift from the implementation, they become misleading rather than helpful documentation.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422392" y="4764024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623560" y="47731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5623560" y="500176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learn the workflow, slash commands, and artifact discipline.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422392" y="5513832"/>
            <a:ext cx="109728" cy="384048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5623560" y="552297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dependencies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5623560" y="575157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/speckit.implement runs local CLI tools — requires correct dev environment setup on each machine.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vs Claude Code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115568"/>
            <a:ext cx="1920240" cy="457200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47472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331720" y="1115568"/>
            <a:ext cx="3127248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331720" y="111556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532120" y="1115568"/>
            <a:ext cx="2816352" cy="457200"/>
          </a:xfrm>
          <a:prstGeom prst="rect">
            <a:avLst/>
          </a:prstGeom>
          <a:solidFill>
            <a:srgbClr val="0E6E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532120" y="111556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412480" y="1115568"/>
            <a:ext cx="1600200" cy="45720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41248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7472" y="1591056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0624" y="1591056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Layer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331720" y="1591056"/>
            <a:ext cx="31272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404872" y="1591056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framework + structured prompt templates for AI-assisted development workflows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532120" y="1591056"/>
            <a:ext cx="281635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605272" y="1591056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agent with direct file system and terminal access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412480" y="1591056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485632" y="159105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47472" y="2395728"/>
            <a:ext cx="192024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20624" y="2395728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331720" y="2395728"/>
            <a:ext cx="312724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404872" y="2395728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 8-phase spec-driven pipeline with dedicated slash commands per phase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532120" y="2395728"/>
            <a:ext cx="2816352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605272" y="239572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agentic loop — does whatever you ask, however you frame it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412480" y="2395728"/>
            <a:ext cx="16002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8485632" y="2395728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goals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47472" y="320040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20624" y="320040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2331720" y="3200400"/>
            <a:ext cx="31272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404872" y="320040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markdown files (spec.md, plan.md, tasks.md) as explicit, durable memory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532120" y="3200400"/>
            <a:ext cx="281635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5605272" y="32004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context window only — no built-in persistent project memory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412480" y="3200400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485632" y="3200400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wins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347472" y="4005072"/>
            <a:ext cx="192024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20624" y="4005072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support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2331720" y="4005072"/>
            <a:ext cx="312724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2404872" y="4005072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agents: Copilot, Cursor, Gemini, Codex, Claude Code, Windsurf, Amp, and more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532120" y="4005072"/>
            <a:ext cx="2816352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5605272" y="400507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Claude-native only — works exclusively with Anthropic Claude models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8412480" y="4005072"/>
            <a:ext cx="16002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8485632" y="400507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wins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347472" y="4809744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20624" y="4809744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use case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2331720" y="4809744"/>
            <a:ext cx="31272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2404872" y="4809744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features, enterprise constraints, structured team workflows, brownfield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532120" y="4809744"/>
            <a:ext cx="281635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5605272" y="4809744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edits, debugging, open-ended refactors, exploratory / spike coding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8412480" y="4809744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8485632" y="4809744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347472" y="5614416"/>
            <a:ext cx="192024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420624" y="5614416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together?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2331720" y="5614416"/>
            <a:ext cx="3127248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2404872" y="5614416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Claude Code is a fully-supported agent for executing spec-kit workflow phases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5532120" y="5614416"/>
            <a:ext cx="2816352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5605272" y="5614416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spec-kit provides structure; Claude Code executes the implementation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8412480" y="5614416"/>
            <a:ext cx="16002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8485632" y="5614416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together!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in 5 Minutes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70432"/>
            <a:ext cx="521208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521208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170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Install &amp; Run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7556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Specify CLI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993392"/>
            <a:ext cx="4846320" cy="585216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99339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tool install specify-cli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 git+https://github.com/github/spec-kit.git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6883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Bootstrap project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4846320" cy="34747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26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 init my-project --ai claude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6210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Navigate &amp; launch agent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858768"/>
            <a:ext cx="4846320" cy="34747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38587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 &amp;&amp; claude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537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Establish principles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791456"/>
            <a:ext cx="4846320" cy="34747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0080" y="47914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/speckit.constitution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54864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Write your first spec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5724144"/>
            <a:ext cx="4846320" cy="34747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" y="57241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 Build a ...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97880" y="1170432"/>
            <a:ext cx="3931920" cy="5349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897880" y="1170432"/>
            <a:ext cx="393192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97880" y="1170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35040" y="1764792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350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01968" y="176479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first, code later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601968" y="200253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development produces more predictable, higher-quality results.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035040" y="2743200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35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01968" y="274320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phases are a pipeline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01968" y="298094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suggestions — each phase builds on the previous for consistent outcomes.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035040" y="3721608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0350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601968" y="3721608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ARE the memory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601968" y="39593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are your source of truth — treat them as first-class deliverables.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35040" y="4700016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03504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601968" y="4700016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601968" y="4937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agent support means you choose your tools, not the other way around.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035040" y="5678424"/>
            <a:ext cx="457200" cy="457200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035040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01968" y="567842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+ Claude Code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601968" y="59161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combination for AI-native development workflows.</a:t>
            </a:r>
            <a:endParaRPr lang="en-US" sz="1200" dirty="0"/>
          </a:p>
        </p:txBody>
      </p:sp>
      <p:pic>
        <p:nvPicPr>
          <p:cNvPr id="46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170432"/>
            <a:ext cx="822960" cy="1078992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 rot="16200000">
            <a:off x="347472" y="117043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47472" y="2340864"/>
            <a:ext cx="822960" cy="8412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 rot="16200000">
            <a:off x="347472" y="234086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CLI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47472" y="3273552"/>
            <a:ext cx="822960" cy="9144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 rot="16200000">
            <a:off x="347472" y="327355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47472" y="4279392"/>
            <a:ext cx="822960" cy="914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 rot="16200000">
            <a:off x="347472" y="427939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Artifacts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47472" y="5285232"/>
            <a:ext cx="822960" cy="1188720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 rot="16200000">
            <a:off x="347472" y="5285232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Machine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353312" y="1207008"/>
            <a:ext cx="1993392" cy="969264"/>
          </a:xfrm>
          <a:prstGeom prst="rect">
            <a:avLst/>
          </a:prstGeom>
          <a:solidFill>
            <a:srgbClr val="EFF6FF"/>
          </a:solidFill>
          <a:ln w="1905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353312" y="12527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/speckit.specify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444752" y="1591056"/>
            <a:ext cx="181051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353312" y="16184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529584" y="1207008"/>
            <a:ext cx="1993392" cy="969264"/>
          </a:xfrm>
          <a:prstGeom prst="rect">
            <a:avLst/>
          </a:prstGeom>
          <a:solidFill>
            <a:srgbClr val="EFF6FF"/>
          </a:solidFill>
          <a:ln w="1905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29584" y="12527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/speckit.plan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21024" y="1591056"/>
            <a:ext cx="181051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529584" y="16184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705856" y="1207008"/>
            <a:ext cx="1993392" cy="969264"/>
          </a:xfrm>
          <a:prstGeom prst="rect">
            <a:avLst/>
          </a:prstGeom>
          <a:solidFill>
            <a:srgbClr val="EFF6FF"/>
          </a:solidFill>
          <a:ln w="1905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705856" y="12527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/speckit.tasks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797296" y="1591056"/>
            <a:ext cx="181051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705856" y="16184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882128" y="1207008"/>
            <a:ext cx="1993392" cy="969264"/>
          </a:xfrm>
          <a:prstGeom prst="rect">
            <a:avLst/>
          </a:prstGeom>
          <a:solidFill>
            <a:srgbClr val="EFF6FF"/>
          </a:solidFill>
          <a:ln w="1905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882128" y="125272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/speckit.implement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973568" y="1591056"/>
            <a:ext cx="181051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7882128" y="161848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trigger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code generation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1353312" y="2377440"/>
            <a:ext cx="8485632" cy="768096"/>
          </a:xfrm>
          <a:prstGeom prst="rect">
            <a:avLst/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1353312" y="2377440"/>
            <a:ext cx="1645920" cy="7680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1353312" y="2377440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CLI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/ uvx)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3090672" y="2441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Bootstraps project structure &amp; templates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382512" y="2441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 helper bash/PowerShell scripts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3090672" y="27523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Installs agent-specific slash commands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382512" y="27523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Manages Git branch per feature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1353312" y="3310128"/>
            <a:ext cx="1993392" cy="841248"/>
          </a:xfrm>
          <a:prstGeom prst="rect">
            <a:avLst/>
          </a:prstGeom>
          <a:solidFill>
            <a:srgbClr val="F9FAFB"/>
          </a:solidFill>
          <a:ln w="190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1353312" y="3310128"/>
            <a:ext cx="1993392" cy="29260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1353312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1426464" y="36301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.claude/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commands/*.md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3529584" y="3310128"/>
            <a:ext cx="1993392" cy="841248"/>
          </a:xfrm>
          <a:prstGeom prst="rect">
            <a:avLst/>
          </a:prstGeom>
          <a:solidFill>
            <a:srgbClr val="F9FAFB"/>
          </a:solidFill>
          <a:ln w="1905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3529584" y="3310128"/>
            <a:ext cx="1993392" cy="29260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3529584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58" name="Text 54"/>
          <p:cNvSpPr/>
          <p:nvPr/>
        </p:nvSpPr>
        <p:spPr>
          <a:xfrm>
            <a:off x="3602736" y="36301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.github/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B9C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copilot/*.md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5705856" y="3310128"/>
            <a:ext cx="1993392" cy="841248"/>
          </a:xfrm>
          <a:prstGeom prst="rect">
            <a:avLst/>
          </a:prstGeom>
          <a:solidFill>
            <a:srgbClr val="F9FAF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5705856" y="3310128"/>
            <a:ext cx="1993392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5705856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Windsurf</a:t>
            </a:r>
            <a:endParaRPr lang="en-US" sz="1100" dirty="0"/>
          </a:p>
        </p:txBody>
      </p:sp>
      <p:sp>
        <p:nvSpPr>
          <p:cNvPr id="64" name="Text 60"/>
          <p:cNvSpPr/>
          <p:nvPr/>
        </p:nvSpPr>
        <p:spPr>
          <a:xfrm>
            <a:off x="5779008" y="36301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.cursor/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commands/*.md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7882128" y="3310128"/>
            <a:ext cx="1993392" cy="841248"/>
          </a:xfrm>
          <a:prstGeom prst="rect">
            <a:avLst/>
          </a:prstGeom>
          <a:solidFill>
            <a:srgbClr val="F9FAF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4"/>
          <p:cNvSpPr/>
          <p:nvPr/>
        </p:nvSpPr>
        <p:spPr>
          <a:xfrm>
            <a:off x="7882128" y="3310128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5"/>
          <p:cNvSpPr/>
          <p:nvPr/>
        </p:nvSpPr>
        <p:spPr>
          <a:xfrm>
            <a:off x="7882128" y="331012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Codex</a:t>
            </a:r>
            <a:endParaRPr lang="en-US" sz="1100" dirty="0"/>
          </a:p>
        </p:txBody>
      </p:sp>
      <p:sp>
        <p:nvSpPr>
          <p:cNvPr id="70" name="Text 66"/>
          <p:cNvSpPr/>
          <p:nvPr/>
        </p:nvSpPr>
        <p:spPr>
          <a:xfrm>
            <a:off x="7955280" y="363016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.gemini/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commands/*.md</a:t>
            </a:r>
            <a:endParaRPr lang="en-US" sz="950" dirty="0"/>
          </a:p>
        </p:txBody>
      </p:sp>
      <p:sp>
        <p:nvSpPr>
          <p:cNvPr id="73" name="Shape 69"/>
          <p:cNvSpPr/>
          <p:nvPr/>
        </p:nvSpPr>
        <p:spPr>
          <a:xfrm>
            <a:off x="1353312" y="4315968"/>
            <a:ext cx="1993392" cy="841248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1353312" y="43525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constitution.md</a:t>
            </a:r>
            <a:endParaRPr lang="en-US" sz="1100" dirty="0"/>
          </a:p>
        </p:txBody>
      </p:sp>
      <p:sp>
        <p:nvSpPr>
          <p:cNvPr id="75" name="Text 71"/>
          <p:cNvSpPr/>
          <p:nvPr/>
        </p:nvSpPr>
        <p:spPr>
          <a:xfrm>
            <a:off x="1353312" y="467258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.specify/memory/</a:t>
            </a:r>
            <a:endParaRPr lang="en-US" sz="950" dirty="0"/>
          </a:p>
        </p:txBody>
      </p:sp>
      <p:sp>
        <p:nvSpPr>
          <p:cNvPr id="78" name="Shape 74"/>
          <p:cNvSpPr/>
          <p:nvPr/>
        </p:nvSpPr>
        <p:spPr>
          <a:xfrm>
            <a:off x="3529584" y="4315968"/>
            <a:ext cx="1993392" cy="841248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5"/>
          <p:cNvSpPr/>
          <p:nvPr/>
        </p:nvSpPr>
        <p:spPr>
          <a:xfrm>
            <a:off x="3529584" y="43525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spec.md</a:t>
            </a:r>
            <a:endParaRPr lang="en-US" sz="1100" dirty="0"/>
          </a:p>
        </p:txBody>
      </p:sp>
      <p:sp>
        <p:nvSpPr>
          <p:cNvPr id="80" name="Text 76"/>
          <p:cNvSpPr/>
          <p:nvPr/>
        </p:nvSpPr>
        <p:spPr>
          <a:xfrm>
            <a:off x="3529584" y="467258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specs/NNN-feature/</a:t>
            </a:r>
            <a:endParaRPr lang="en-US" sz="950" dirty="0"/>
          </a:p>
        </p:txBody>
      </p:sp>
      <p:sp>
        <p:nvSpPr>
          <p:cNvPr id="83" name="Shape 79"/>
          <p:cNvSpPr/>
          <p:nvPr/>
        </p:nvSpPr>
        <p:spPr>
          <a:xfrm>
            <a:off x="5705856" y="4315968"/>
            <a:ext cx="1993392" cy="841248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/>
          <p:nvPr/>
        </p:nvSpPr>
        <p:spPr>
          <a:xfrm>
            <a:off x="5705856" y="43525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plan.md</a:t>
            </a:r>
            <a:endParaRPr lang="en-US" sz="1100" dirty="0"/>
          </a:p>
        </p:txBody>
      </p:sp>
      <p:sp>
        <p:nvSpPr>
          <p:cNvPr id="85" name="Text 81"/>
          <p:cNvSpPr/>
          <p:nvPr/>
        </p:nvSpPr>
        <p:spPr>
          <a:xfrm>
            <a:off x="5705856" y="467258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specs/NNN-feature/</a:t>
            </a:r>
            <a:endParaRPr lang="en-US" sz="950" dirty="0"/>
          </a:p>
        </p:txBody>
      </p:sp>
      <p:sp>
        <p:nvSpPr>
          <p:cNvPr id="88" name="Shape 84"/>
          <p:cNvSpPr/>
          <p:nvPr/>
        </p:nvSpPr>
        <p:spPr>
          <a:xfrm>
            <a:off x="7882128" y="4315968"/>
            <a:ext cx="1993392" cy="841248"/>
          </a:xfrm>
          <a:prstGeom prst="rect">
            <a:avLst/>
          </a:prstGeom>
          <a:solidFill>
            <a:srgbClr val="F0FFF4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7882128" y="43525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100" dirty="0"/>
          </a:p>
        </p:txBody>
      </p:sp>
      <p:sp>
        <p:nvSpPr>
          <p:cNvPr id="90" name="Text 86"/>
          <p:cNvSpPr/>
          <p:nvPr/>
        </p:nvSpPr>
        <p:spPr>
          <a:xfrm>
            <a:off x="7882128" y="467258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specs/NNN-feature/</a:t>
            </a:r>
            <a:endParaRPr lang="en-US" sz="950" dirty="0"/>
          </a:p>
        </p:txBody>
      </p:sp>
      <p:sp>
        <p:nvSpPr>
          <p:cNvPr id="93" name="Shape 89"/>
          <p:cNvSpPr/>
          <p:nvPr/>
        </p:nvSpPr>
        <p:spPr>
          <a:xfrm>
            <a:off x="1353312" y="5321808"/>
            <a:ext cx="1993392" cy="1042416"/>
          </a:xfrm>
          <a:prstGeom prst="rect">
            <a:avLst/>
          </a:prstGeom>
          <a:solidFill>
            <a:srgbClr val="FFF7ED"/>
          </a:solidFill>
          <a:ln w="19050">
            <a:solidFill>
              <a:srgbClr val="E84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/>
          <p:nvPr/>
        </p:nvSpPr>
        <p:spPr>
          <a:xfrm>
            <a:off x="1353312" y="535838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00" dirty="0"/>
          </a:p>
        </p:txBody>
      </p:sp>
      <p:sp>
        <p:nvSpPr>
          <p:cNvPr id="95" name="Text 91"/>
          <p:cNvSpPr/>
          <p:nvPr/>
        </p:nvSpPr>
        <p:spPr>
          <a:xfrm>
            <a:off x="1353312" y="5687568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/ commit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feature</a:t>
            </a:r>
            <a:endParaRPr lang="en-US" sz="950" dirty="0"/>
          </a:p>
        </p:txBody>
      </p:sp>
      <p:sp>
        <p:nvSpPr>
          <p:cNvPr id="96" name="Shape 92"/>
          <p:cNvSpPr/>
          <p:nvPr/>
        </p:nvSpPr>
        <p:spPr>
          <a:xfrm>
            <a:off x="3529584" y="5321808"/>
            <a:ext cx="1993392" cy="1042416"/>
          </a:xfrm>
          <a:prstGeom prst="rect">
            <a:avLst/>
          </a:prstGeom>
          <a:solidFill>
            <a:srgbClr val="FFF7ED"/>
          </a:solidFill>
          <a:ln w="19050">
            <a:solidFill>
              <a:srgbClr val="E84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3"/>
          <p:cNvSpPr/>
          <p:nvPr/>
        </p:nvSpPr>
        <p:spPr>
          <a:xfrm>
            <a:off x="3529584" y="535838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Scripts</a:t>
            </a:r>
            <a:endParaRPr lang="en-US" sz="1200" dirty="0"/>
          </a:p>
        </p:txBody>
      </p:sp>
      <p:sp>
        <p:nvSpPr>
          <p:cNvPr id="98" name="Text 94"/>
          <p:cNvSpPr/>
          <p:nvPr/>
        </p:nvSpPr>
        <p:spPr>
          <a:xfrm>
            <a:off x="3529584" y="5687568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create-new-feature.sh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setup-plan.sh</a:t>
            </a:r>
            <a:endParaRPr lang="en-US" sz="950" dirty="0"/>
          </a:p>
        </p:txBody>
      </p:sp>
      <p:sp>
        <p:nvSpPr>
          <p:cNvPr id="99" name="Shape 95"/>
          <p:cNvSpPr/>
          <p:nvPr/>
        </p:nvSpPr>
        <p:spPr>
          <a:xfrm>
            <a:off x="5705856" y="5321808"/>
            <a:ext cx="1993392" cy="1042416"/>
          </a:xfrm>
          <a:prstGeom prst="rect">
            <a:avLst/>
          </a:prstGeom>
          <a:solidFill>
            <a:srgbClr val="FFF7ED"/>
          </a:solidFill>
          <a:ln w="19050">
            <a:solidFill>
              <a:srgbClr val="E84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6"/>
          <p:cNvSpPr/>
          <p:nvPr/>
        </p:nvSpPr>
        <p:spPr>
          <a:xfrm>
            <a:off x="5705856" y="535838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</a:t>
            </a:r>
            <a:endParaRPr lang="en-US" sz="1200" dirty="0"/>
          </a:p>
        </p:txBody>
      </p:sp>
      <p:sp>
        <p:nvSpPr>
          <p:cNvPr id="101" name="Text 97"/>
          <p:cNvSpPr/>
          <p:nvPr/>
        </p:nvSpPr>
        <p:spPr>
          <a:xfrm>
            <a:off x="5705856" y="5687568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/ dotnet / pip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tech stack</a:t>
            </a:r>
            <a:endParaRPr lang="en-US" sz="950" dirty="0"/>
          </a:p>
        </p:txBody>
      </p:sp>
      <p:sp>
        <p:nvSpPr>
          <p:cNvPr id="102" name="Shape 98"/>
          <p:cNvSpPr/>
          <p:nvPr/>
        </p:nvSpPr>
        <p:spPr>
          <a:xfrm>
            <a:off x="7882128" y="5321808"/>
            <a:ext cx="1993392" cy="1042416"/>
          </a:xfrm>
          <a:prstGeom prst="rect">
            <a:avLst/>
          </a:prstGeom>
          <a:solidFill>
            <a:srgbClr val="FFF7ED"/>
          </a:solidFill>
          <a:ln w="19050">
            <a:solidFill>
              <a:srgbClr val="E84E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9"/>
          <p:cNvSpPr/>
          <p:nvPr/>
        </p:nvSpPr>
        <p:spPr>
          <a:xfrm>
            <a:off x="7882128" y="535838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200" dirty="0"/>
          </a:p>
        </p:txBody>
      </p:sp>
      <p:sp>
        <p:nvSpPr>
          <p:cNvPr id="104" name="Text 100"/>
          <p:cNvSpPr/>
          <p:nvPr/>
        </p:nvSpPr>
        <p:spPr>
          <a:xfrm>
            <a:off x="7882128" y="5687568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&amp; writes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project files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AI Agents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4048" y="1170432"/>
            <a:ext cx="9436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supports 17 AI agents across two categories. Use specify init --ai &lt;key&gt; to bootstrap your project for any of them. If --ai is omitted, an interactive selector is shown.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347472" y="1719072"/>
            <a:ext cx="4773168" cy="347472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47472" y="171907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CLI-Based Agents  (11)   —   require tool installed in PATH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230368" y="1719072"/>
            <a:ext cx="4553712" cy="347472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230368" y="171907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IDE-Based Agents  (6)   —   no CLI install required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7472" y="2084832"/>
            <a:ext cx="1572768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2336" y="20848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920240" y="2084832"/>
            <a:ext cx="1042416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975104" y="208483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--ai key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962656" y="2084832"/>
            <a:ext cx="2084832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017520" y="208483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230368" y="2084832"/>
            <a:ext cx="1536192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285232" y="2084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766560" y="2084832"/>
            <a:ext cx="1005840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21424" y="208483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--ai key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772400" y="2084832"/>
            <a:ext cx="1938528" cy="2560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27264" y="208483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7472" y="2359152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02336" y="2462936"/>
            <a:ext cx="146304" cy="146304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03504" y="2359152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920240" y="2417216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1920240" y="241721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claude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962656" y="2359152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47472" y="2713025"/>
            <a:ext cx="4773168" cy="3538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02336" y="2816809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03504" y="2713025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1920240" y="2771089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920240" y="2771089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gemini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2962656" y="2713025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.gemini/commands/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47472" y="3066898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402336" y="3170682"/>
            <a:ext cx="146304" cy="146304"/>
          </a:xfrm>
          <a:prstGeom prst="ellipse">
            <a:avLst/>
          </a:prstGeom>
          <a:solidFill>
            <a:srgbClr val="10A3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603504" y="3066898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1920240" y="3124962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1920240" y="312496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codex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2962656" y="3066898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.codex/commands/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47472" y="3420770"/>
            <a:ext cx="4773168" cy="3538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02336" y="3524555"/>
            <a:ext cx="146304" cy="146304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03504" y="3420770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 Dev CLI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1920240" y="3478835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1920240" y="3478835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q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2962656" y="3420770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.amazonq/prompts/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47472" y="3774643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402336" y="387842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603504" y="3774643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1920240" y="3832708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1920240" y="383270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amp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2962656" y="3774643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.agents/commands/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47472" y="4128516"/>
            <a:ext cx="4773168" cy="3538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402336" y="423230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603504" y="4128516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1920240" y="4186580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1920240" y="418658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opencode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2962656" y="4128516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.opencode/command/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347472" y="4482389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402336" y="4586173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603504" y="4482389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Code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1920240" y="4540453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9"/>
          <p:cNvSpPr/>
          <p:nvPr/>
        </p:nvSpPr>
        <p:spPr>
          <a:xfrm>
            <a:off x="1920240" y="4540453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qwen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2962656" y="4482389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.qwen/commands/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347472" y="4836262"/>
            <a:ext cx="4773168" cy="3538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2"/>
          <p:cNvSpPr/>
          <p:nvPr/>
        </p:nvSpPr>
        <p:spPr>
          <a:xfrm>
            <a:off x="402336" y="4940046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603504" y="4836262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Auggie CLI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1920240" y="4894326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5"/>
          <p:cNvSpPr/>
          <p:nvPr/>
        </p:nvSpPr>
        <p:spPr>
          <a:xfrm>
            <a:off x="1920240" y="489432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auggie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2962656" y="4836262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.augment/rules/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347472" y="5190134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402336" y="5293919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/>
          <p:nvPr/>
        </p:nvSpPr>
        <p:spPr>
          <a:xfrm>
            <a:off x="603504" y="5190134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CodeBuddy</a:t>
            </a:r>
            <a:endParaRPr lang="en-US" sz="1050" dirty="0"/>
          </a:p>
        </p:txBody>
      </p:sp>
      <p:sp>
        <p:nvSpPr>
          <p:cNvPr id="74" name="Shape 70"/>
          <p:cNvSpPr/>
          <p:nvPr/>
        </p:nvSpPr>
        <p:spPr>
          <a:xfrm>
            <a:off x="1920240" y="5248199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1"/>
          <p:cNvSpPr/>
          <p:nvPr/>
        </p:nvSpPr>
        <p:spPr>
          <a:xfrm>
            <a:off x="1920240" y="5248199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codebuddy</a:t>
            </a:r>
            <a:endParaRPr lang="en-US" sz="850" dirty="0"/>
          </a:p>
        </p:txBody>
      </p:sp>
      <p:sp>
        <p:nvSpPr>
          <p:cNvPr id="76" name="Text 72"/>
          <p:cNvSpPr/>
          <p:nvPr/>
        </p:nvSpPr>
        <p:spPr>
          <a:xfrm>
            <a:off x="2962656" y="5190134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.codebuddy/commands/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47472" y="5544007"/>
            <a:ext cx="4773168" cy="3538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4"/>
          <p:cNvSpPr/>
          <p:nvPr/>
        </p:nvSpPr>
        <p:spPr>
          <a:xfrm>
            <a:off x="402336" y="5647792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5"/>
          <p:cNvSpPr/>
          <p:nvPr/>
        </p:nvSpPr>
        <p:spPr>
          <a:xfrm>
            <a:off x="603504" y="5544007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Qoder CLI</a:t>
            </a:r>
            <a:endParaRPr lang="en-US" sz="1050" dirty="0"/>
          </a:p>
        </p:txBody>
      </p:sp>
      <p:sp>
        <p:nvSpPr>
          <p:cNvPr id="80" name="Shape 76"/>
          <p:cNvSpPr/>
          <p:nvPr/>
        </p:nvSpPr>
        <p:spPr>
          <a:xfrm>
            <a:off x="1920240" y="5602072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/>
          <p:nvPr/>
        </p:nvSpPr>
        <p:spPr>
          <a:xfrm>
            <a:off x="1920240" y="56020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qoder</a:t>
            </a:r>
            <a:endParaRPr lang="en-US" sz="850" dirty="0"/>
          </a:p>
        </p:txBody>
      </p:sp>
      <p:sp>
        <p:nvSpPr>
          <p:cNvPr id="82" name="Text 78"/>
          <p:cNvSpPr/>
          <p:nvPr/>
        </p:nvSpPr>
        <p:spPr>
          <a:xfrm>
            <a:off x="2962656" y="5544007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.qoder/commands/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347472" y="5897880"/>
            <a:ext cx="4773168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0"/>
          <p:cNvSpPr/>
          <p:nvPr/>
        </p:nvSpPr>
        <p:spPr>
          <a:xfrm>
            <a:off x="402336" y="6001664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1"/>
          <p:cNvSpPr/>
          <p:nvPr/>
        </p:nvSpPr>
        <p:spPr>
          <a:xfrm>
            <a:off x="603504" y="5897880"/>
            <a:ext cx="126187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1920240" y="5955944"/>
            <a:ext cx="987552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3"/>
          <p:cNvSpPr/>
          <p:nvPr/>
        </p:nvSpPr>
        <p:spPr>
          <a:xfrm>
            <a:off x="1920240" y="59559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shai</a:t>
            </a:r>
            <a:endParaRPr lang="en-US" sz="850" dirty="0"/>
          </a:p>
        </p:txBody>
      </p:sp>
      <p:sp>
        <p:nvSpPr>
          <p:cNvPr id="88" name="Text 84"/>
          <p:cNvSpPr/>
          <p:nvPr/>
        </p:nvSpPr>
        <p:spPr>
          <a:xfrm>
            <a:off x="2962656" y="5897880"/>
            <a:ext cx="2103120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.shai/commands/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5230368" y="2359152"/>
            <a:ext cx="4553712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6"/>
          <p:cNvSpPr/>
          <p:nvPr/>
        </p:nvSpPr>
        <p:spPr>
          <a:xfrm>
            <a:off x="5285232" y="2462936"/>
            <a:ext cx="146304" cy="146304"/>
          </a:xfrm>
          <a:prstGeom prst="ellipse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7"/>
          <p:cNvSpPr/>
          <p:nvPr/>
        </p:nvSpPr>
        <p:spPr>
          <a:xfrm>
            <a:off x="5486400" y="2359152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92" name="Shape 88"/>
          <p:cNvSpPr/>
          <p:nvPr/>
        </p:nvSpPr>
        <p:spPr>
          <a:xfrm>
            <a:off x="6766560" y="2417216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9"/>
          <p:cNvSpPr/>
          <p:nvPr/>
        </p:nvSpPr>
        <p:spPr>
          <a:xfrm>
            <a:off x="6766560" y="241721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copilot</a:t>
            </a:r>
            <a:endParaRPr lang="en-US" sz="800" dirty="0"/>
          </a:p>
        </p:txBody>
      </p:sp>
      <p:sp>
        <p:nvSpPr>
          <p:cNvPr id="94" name="Text 90"/>
          <p:cNvSpPr/>
          <p:nvPr/>
        </p:nvSpPr>
        <p:spPr>
          <a:xfrm>
            <a:off x="7754112" y="2359152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prompts/</a:t>
            </a:r>
            <a:endParaRPr lang="en-US" sz="850" dirty="0"/>
          </a:p>
        </p:txBody>
      </p:sp>
      <p:sp>
        <p:nvSpPr>
          <p:cNvPr id="95" name="Shape 91"/>
          <p:cNvSpPr/>
          <p:nvPr/>
        </p:nvSpPr>
        <p:spPr>
          <a:xfrm>
            <a:off x="5230368" y="2713025"/>
            <a:ext cx="4553712" cy="353873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2"/>
          <p:cNvSpPr/>
          <p:nvPr/>
        </p:nvSpPr>
        <p:spPr>
          <a:xfrm>
            <a:off x="5285232" y="2816809"/>
            <a:ext cx="146304" cy="146304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3"/>
          <p:cNvSpPr/>
          <p:nvPr/>
        </p:nvSpPr>
        <p:spPr>
          <a:xfrm>
            <a:off x="5486400" y="2713025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050" dirty="0"/>
          </a:p>
        </p:txBody>
      </p:sp>
      <p:sp>
        <p:nvSpPr>
          <p:cNvPr id="98" name="Shape 94"/>
          <p:cNvSpPr/>
          <p:nvPr/>
        </p:nvSpPr>
        <p:spPr>
          <a:xfrm>
            <a:off x="6766560" y="2771089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5"/>
          <p:cNvSpPr/>
          <p:nvPr/>
        </p:nvSpPr>
        <p:spPr>
          <a:xfrm>
            <a:off x="6766560" y="2771089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cursor-agent</a:t>
            </a:r>
            <a:endParaRPr lang="en-US" sz="800" dirty="0"/>
          </a:p>
        </p:txBody>
      </p:sp>
      <p:sp>
        <p:nvSpPr>
          <p:cNvPr id="100" name="Text 96"/>
          <p:cNvSpPr/>
          <p:nvPr/>
        </p:nvSpPr>
        <p:spPr>
          <a:xfrm>
            <a:off x="7754112" y="2713025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.cursor/commands/</a:t>
            </a:r>
            <a:endParaRPr lang="en-US" sz="850" dirty="0"/>
          </a:p>
        </p:txBody>
      </p:sp>
      <p:sp>
        <p:nvSpPr>
          <p:cNvPr id="101" name="Shape 97"/>
          <p:cNvSpPr/>
          <p:nvPr/>
        </p:nvSpPr>
        <p:spPr>
          <a:xfrm>
            <a:off x="5230368" y="3066898"/>
            <a:ext cx="4553712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8"/>
          <p:cNvSpPr/>
          <p:nvPr/>
        </p:nvSpPr>
        <p:spPr>
          <a:xfrm>
            <a:off x="5285232" y="3170682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99"/>
          <p:cNvSpPr/>
          <p:nvPr/>
        </p:nvSpPr>
        <p:spPr>
          <a:xfrm>
            <a:off x="5486400" y="3066898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050" dirty="0"/>
          </a:p>
        </p:txBody>
      </p:sp>
      <p:sp>
        <p:nvSpPr>
          <p:cNvPr id="104" name="Shape 100"/>
          <p:cNvSpPr/>
          <p:nvPr/>
        </p:nvSpPr>
        <p:spPr>
          <a:xfrm>
            <a:off x="6766560" y="3124962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1"/>
          <p:cNvSpPr/>
          <p:nvPr/>
        </p:nvSpPr>
        <p:spPr>
          <a:xfrm>
            <a:off x="6766560" y="312496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windsurf</a:t>
            </a:r>
            <a:endParaRPr lang="en-US" sz="800" dirty="0"/>
          </a:p>
        </p:txBody>
      </p:sp>
      <p:sp>
        <p:nvSpPr>
          <p:cNvPr id="106" name="Text 102"/>
          <p:cNvSpPr/>
          <p:nvPr/>
        </p:nvSpPr>
        <p:spPr>
          <a:xfrm>
            <a:off x="7754112" y="3066898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.windsurf/workflows/</a:t>
            </a:r>
            <a:endParaRPr lang="en-US" sz="850" dirty="0"/>
          </a:p>
        </p:txBody>
      </p:sp>
      <p:sp>
        <p:nvSpPr>
          <p:cNvPr id="107" name="Shape 103"/>
          <p:cNvSpPr/>
          <p:nvPr/>
        </p:nvSpPr>
        <p:spPr>
          <a:xfrm>
            <a:off x="5230368" y="3420770"/>
            <a:ext cx="4553712" cy="353873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4"/>
          <p:cNvSpPr/>
          <p:nvPr/>
        </p:nvSpPr>
        <p:spPr>
          <a:xfrm>
            <a:off x="5285232" y="3524555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5"/>
          <p:cNvSpPr/>
          <p:nvPr/>
        </p:nvSpPr>
        <p:spPr>
          <a:xfrm>
            <a:off x="5486400" y="3420770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 Code</a:t>
            </a:r>
            <a:endParaRPr lang="en-US" sz="1050" dirty="0"/>
          </a:p>
        </p:txBody>
      </p:sp>
      <p:sp>
        <p:nvSpPr>
          <p:cNvPr id="110" name="Shape 106"/>
          <p:cNvSpPr/>
          <p:nvPr/>
        </p:nvSpPr>
        <p:spPr>
          <a:xfrm>
            <a:off x="6766560" y="3478835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7"/>
          <p:cNvSpPr/>
          <p:nvPr/>
        </p:nvSpPr>
        <p:spPr>
          <a:xfrm>
            <a:off x="6766560" y="3478835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kilocode</a:t>
            </a:r>
            <a:endParaRPr lang="en-US" sz="800" dirty="0"/>
          </a:p>
        </p:txBody>
      </p:sp>
      <p:sp>
        <p:nvSpPr>
          <p:cNvPr id="112" name="Text 108"/>
          <p:cNvSpPr/>
          <p:nvPr/>
        </p:nvSpPr>
        <p:spPr>
          <a:xfrm>
            <a:off x="7754112" y="3420770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.kilocode/rules/</a:t>
            </a:r>
            <a:endParaRPr lang="en-US" sz="850" dirty="0"/>
          </a:p>
        </p:txBody>
      </p:sp>
      <p:sp>
        <p:nvSpPr>
          <p:cNvPr id="113" name="Shape 109"/>
          <p:cNvSpPr/>
          <p:nvPr/>
        </p:nvSpPr>
        <p:spPr>
          <a:xfrm>
            <a:off x="5230368" y="3774643"/>
            <a:ext cx="4553712" cy="3538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0"/>
          <p:cNvSpPr/>
          <p:nvPr/>
        </p:nvSpPr>
        <p:spPr>
          <a:xfrm>
            <a:off x="5285232" y="3878428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1"/>
          <p:cNvSpPr/>
          <p:nvPr/>
        </p:nvSpPr>
        <p:spPr>
          <a:xfrm>
            <a:off x="5486400" y="3774643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 Code</a:t>
            </a:r>
            <a:endParaRPr lang="en-US" sz="1050" dirty="0"/>
          </a:p>
        </p:txBody>
      </p:sp>
      <p:sp>
        <p:nvSpPr>
          <p:cNvPr id="116" name="Shape 112"/>
          <p:cNvSpPr/>
          <p:nvPr/>
        </p:nvSpPr>
        <p:spPr>
          <a:xfrm>
            <a:off x="6766560" y="3832708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3"/>
          <p:cNvSpPr/>
          <p:nvPr/>
        </p:nvSpPr>
        <p:spPr>
          <a:xfrm>
            <a:off x="6766560" y="383270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roo</a:t>
            </a:r>
            <a:endParaRPr lang="en-US" sz="800" dirty="0"/>
          </a:p>
        </p:txBody>
      </p:sp>
      <p:sp>
        <p:nvSpPr>
          <p:cNvPr id="118" name="Text 114"/>
          <p:cNvSpPr/>
          <p:nvPr/>
        </p:nvSpPr>
        <p:spPr>
          <a:xfrm>
            <a:off x="7754112" y="3774643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.roo/rules/</a:t>
            </a:r>
            <a:endParaRPr lang="en-US" sz="850" dirty="0"/>
          </a:p>
        </p:txBody>
      </p:sp>
      <p:sp>
        <p:nvSpPr>
          <p:cNvPr id="119" name="Shape 115"/>
          <p:cNvSpPr/>
          <p:nvPr/>
        </p:nvSpPr>
        <p:spPr>
          <a:xfrm>
            <a:off x="5230368" y="4128516"/>
            <a:ext cx="4553712" cy="353873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6"/>
          <p:cNvSpPr/>
          <p:nvPr/>
        </p:nvSpPr>
        <p:spPr>
          <a:xfrm>
            <a:off x="5285232" y="4232300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Text 117"/>
          <p:cNvSpPr/>
          <p:nvPr/>
        </p:nvSpPr>
        <p:spPr>
          <a:xfrm>
            <a:off x="5486400" y="4128516"/>
            <a:ext cx="1225296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050" dirty="0"/>
          </a:p>
        </p:txBody>
      </p:sp>
      <p:sp>
        <p:nvSpPr>
          <p:cNvPr id="122" name="Shape 118"/>
          <p:cNvSpPr/>
          <p:nvPr/>
        </p:nvSpPr>
        <p:spPr>
          <a:xfrm>
            <a:off x="6766560" y="4186580"/>
            <a:ext cx="932688" cy="237744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9"/>
          <p:cNvSpPr/>
          <p:nvPr/>
        </p:nvSpPr>
        <p:spPr>
          <a:xfrm>
            <a:off x="6766560" y="418658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--ai bob</a:t>
            </a:r>
            <a:endParaRPr lang="en-US" sz="800" dirty="0"/>
          </a:p>
        </p:txBody>
      </p:sp>
      <p:sp>
        <p:nvSpPr>
          <p:cNvPr id="124" name="Text 120"/>
          <p:cNvSpPr/>
          <p:nvPr/>
        </p:nvSpPr>
        <p:spPr>
          <a:xfrm>
            <a:off x="7754112" y="4128516"/>
            <a:ext cx="1975104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.bob/commands/</a:t>
            </a:r>
            <a:endParaRPr lang="en-US" sz="850" dirty="0"/>
          </a:p>
        </p:txBody>
      </p:sp>
      <p:sp>
        <p:nvSpPr>
          <p:cNvPr id="125" name="Shape 121"/>
          <p:cNvSpPr/>
          <p:nvPr/>
        </p:nvSpPr>
        <p:spPr>
          <a:xfrm>
            <a:off x="347472" y="6181344"/>
            <a:ext cx="4773168" cy="475488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2"/>
          <p:cNvSpPr/>
          <p:nvPr/>
        </p:nvSpPr>
        <p:spPr>
          <a:xfrm>
            <a:off x="420624" y="6181344"/>
            <a:ext cx="4645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 init &lt;project&gt; --ai claude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 init --here --ai copilot   # current dir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specify init &lt;project&gt; --ai gemini --no-git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5230368" y="6181344"/>
            <a:ext cx="4553712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4"/>
          <p:cNvSpPr/>
          <p:nvPr/>
        </p:nvSpPr>
        <p:spPr>
          <a:xfrm>
            <a:off x="5303520" y="618134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Bring your own:  --ai generic --ai-commands-dir .myagent/commands/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Formats: Markdown for most · TOML for Gemini &amp; Qwen · Paired .agent.md + .prompt.md for Copilot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Spec-Kit Runs Commands Locally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4048" y="1170432"/>
            <a:ext cx="9436608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1170432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is not a cloud service. Every command — Git ops, script execution, and build tools — runs directly on the developer's local machine via the AI agent's terminal access.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84048" y="1847088"/>
            <a:ext cx="4480560" cy="4443984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84048" y="1847088"/>
            <a:ext cx="4480560" cy="420624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84048" y="184708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384048" cy="38404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69264" y="235915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 triggers the agent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69264" y="2606040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/speckit.specify — the agent reads a Markdown prompt file from .claude/commands/, .github/copilot/, .cursor/, etc.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154680"/>
            <a:ext cx="384048" cy="38404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69264" y="315468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 bash/PowerShell script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69264" y="3401568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like create-new-feature.sh and setup-plan.sh are invoked directly via the agent's terminal access.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0292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69264" y="395020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execute Git commands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69264" y="4197096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001-my-feature creates an isolated branch. Subsequent commits track each artifact as it is written.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" y="4745736"/>
            <a:ext cx="384048" cy="38404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292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69264" y="474573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Markdown artifacts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69264" y="4992624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spec.md, plan.md, and tasks.md are written directly to the local .specify/specs/NNN/ directory.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" y="5541264"/>
            <a:ext cx="384048" cy="384048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02920" y="5541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69264" y="554126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/speckit.implement runs build tools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9264" y="578815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install, dotnet build, pip install — whatever the tech stack needs — is run locally on the developer's machine.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166360" y="1847088"/>
            <a:ext cx="4480560" cy="4443984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166360" y="1847088"/>
            <a:ext cx="4480560" cy="420624"/>
          </a:xfrm>
          <a:prstGeom prst="rect">
            <a:avLst/>
          </a:prstGeom>
          <a:solidFill>
            <a:srgbClr val="E84E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166360" y="184708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Run Locally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285232" y="235915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 isolation per feature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285232" y="2615184"/>
            <a:ext cx="4224528" cy="62179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5376672" y="2633472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001-my-feature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.specify/specs/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add spec"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5285232" y="333756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create-new-feature.sh — scaffolds dirs &amp; files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285232" y="3593592"/>
            <a:ext cx="4224528" cy="62179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5376672" y="3611880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specs/001-my-feature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templates/spec-template.md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specs/001-my-feature/spec.md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285232" y="4315968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/speckit.implement — runs your build tools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285232" y="4572000"/>
            <a:ext cx="4224528" cy="62179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5376672" y="4590288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&amp;&amp; npm run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dotnet restore &amp;&amp; dotnet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pip install -r requirements.txt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5285232" y="529437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update-agent-context.sh — refreshes context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285232" y="5550408"/>
            <a:ext cx="4224528" cy="621792"/>
          </a:xfrm>
          <a:prstGeom prst="rect">
            <a:avLst/>
          </a:prstGeom>
          <a:solidFill>
            <a:srgbClr val="1E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5376672" y="5568696"/>
            <a:ext cx="4059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constitution.md plan.md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&gt;&gt; .claude/CLAUDE.md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384048" y="6373368"/>
            <a:ext cx="9436608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384048" y="6291072"/>
            <a:ext cx="9436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Prerequisite: Git, your AI agent CLI, and all project build tools must be installed locally and in PATH before running /speckit.implement.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1B9CD8"/>
          </a:solidFill>
          <a:ln w="12700">
            <a:solidFill>
              <a:srgbClr val="1B9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layout2_Picture 4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972800" y="-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 &amp; Files Created by Spec-Kit</a:t>
            </a:r>
            <a:endParaRPr lang="en-US" sz="2800" dirty="0"/>
          </a:p>
        </p:txBody>
      </p:sp>
      <p:pic>
        <p:nvPicPr>
          <p:cNvPr id="5" name="Image 1" descr="/home/claude/layout4_Picture 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0"/>
            <a:ext cx="203911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170432"/>
            <a:ext cx="3858768" cy="5394960"/>
          </a:xfrm>
          <a:prstGeom prst="rect">
            <a:avLst/>
          </a:prstGeom>
          <a:solidFill>
            <a:srgbClr val="1E2D3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47472" y="1170432"/>
            <a:ext cx="3858768" cy="402336"/>
          </a:xfrm>
          <a:prstGeom prst="rect">
            <a:avLst/>
          </a:prstGeom>
          <a:solidFill>
            <a:srgbClr val="1B9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47472" y="117043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Tree (Claude Code)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38912" y="1645920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my-project/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38912" y="1833372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.claude/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38912" y="2020824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commands/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38912" y="2208276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specify.md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38912" y="2395728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plan.md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38912" y="2583180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tasks.md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38912" y="2770632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implement.md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38912" y="2958084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  (Copilot only)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38912" y="3145536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copilot/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38912" y="3332988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*.prompt.md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38912" y="3520440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.specify/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38912" y="3707892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memory/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38912" y="3895344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constitution.md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38912" y="4082796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scripts/bash/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38912" y="4270248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create-new-feature.sh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38912" y="4457700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setup-plan.sh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38912" y="4645152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*.sh (5 scripts)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38912" y="4832604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specs/001-feature/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38912" y="5020056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spec.md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38912" y="5207508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plan.md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38912" y="5394960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tasks.md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38912" y="5582412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data-model.md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38912" y="5769864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templates/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38912" y="5957316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spec-template.md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38912" y="6144768"/>
            <a:ext cx="3675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plan-template.md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407408" y="1170432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407408" y="1170432"/>
            <a:ext cx="91440" cy="841248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9034272" y="1225296"/>
            <a:ext cx="713232" cy="201168"/>
          </a:xfrm>
          <a:prstGeom prst="rect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9034272" y="122529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0" y="120700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.claude/commands/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0" y="146304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 prompt files for Claude Code. Each .md defines one /speckit.* command. Other agents use parallel folders: .gemini/, .cursor/, .windsurf/, .github/copilot/ etc.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407408" y="2071116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4407408" y="2071116"/>
            <a:ext cx="91440" cy="841248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9034272" y="2125980"/>
            <a:ext cx="713232" cy="201168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9034272" y="21259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572000" y="210769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.github/copilot/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572000" y="2363724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files for Copilot's slash commands (plan.prompt.md, specify.prompt.md). Only created when --ai copilot is used during specify init.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407408" y="2971800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4407408" y="2971800"/>
            <a:ext cx="91440" cy="841248"/>
          </a:xfrm>
          <a:prstGeom prst="rect">
            <a:avLst/>
          </a:prstGeom>
          <a:solidFill>
            <a:srgbClr val="F9A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9034272" y="3026664"/>
            <a:ext cx="713232" cy="201168"/>
          </a:xfrm>
          <a:prstGeom prst="rect">
            <a:avLst/>
          </a:prstGeom>
          <a:solidFill>
            <a:srgbClr val="F9A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9034272" y="30266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4572000" y="3008376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.specify/memory/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4572000" y="3264408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constitution.md stores non-negotiable project principles: testing rules, architecture standards, coding conventions. Referenced by every phase. Never auto-overwritten once customized.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4407408" y="3872484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4407408" y="3872484"/>
            <a:ext cx="91440" cy="84124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9034272" y="3927348"/>
            <a:ext cx="713232" cy="201168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9034272" y="39273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4572000" y="390906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.specify/scripts/bash/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4572000" y="416509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scripts invoked by the AI agent during phases. create-new-feature.sh creates Git branches &amp; directories. setup-plan.sh prepares the plan environment. update-agent-context.sh refreshes CLAUDE.md.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4407408" y="4773168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407408" y="4773168"/>
            <a:ext cx="91440" cy="84124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9034272" y="4828032"/>
            <a:ext cx="713232" cy="20116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9034272" y="48280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4572000" y="4809744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(root)/specify/specs/NNN/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4572000" y="5065776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artifact folder created on each new branch (e.g. 001-add-auth). Contains spec.md, plan.md, tasks.md, data-model.md. These are your living project documents — review and edit freely.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4407408" y="5673852"/>
            <a:ext cx="5440680" cy="841248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1"/>
          <p:cNvSpPr/>
          <p:nvPr/>
        </p:nvSpPr>
        <p:spPr>
          <a:xfrm>
            <a:off x="4407408" y="5673852"/>
            <a:ext cx="91440" cy="8412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2"/>
          <p:cNvSpPr/>
          <p:nvPr/>
        </p:nvSpPr>
        <p:spPr>
          <a:xfrm>
            <a:off x="9034272" y="5728716"/>
            <a:ext cx="713232" cy="20116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3"/>
          <p:cNvSpPr/>
          <p:nvPr/>
        </p:nvSpPr>
        <p:spPr>
          <a:xfrm>
            <a:off x="9034272" y="57287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4572000" y="5710428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.specify/templates/</a:t>
            </a:r>
            <a:endParaRPr lang="en-US" sz="1100" dirty="0"/>
          </a:p>
        </p:txBody>
      </p:sp>
      <p:sp>
        <p:nvSpPr>
          <p:cNvPr id="69" name="Text 65"/>
          <p:cNvSpPr/>
          <p:nvPr/>
        </p:nvSpPr>
        <p:spPr>
          <a:xfrm>
            <a:off x="4572000" y="5966460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templates defining spec, plan, and task document structure. Edit these to match your org's standards. spec-template.md, plan-template.md, tasks-template.md, agent-file-template.md.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2511</Words>
  <Application>Microsoft Macintosh PowerPoint</Application>
  <PresentationFormat>Widescreen</PresentationFormat>
  <Paragraphs>432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Spec-Kit: Spec-Driven Development</dc:title>
  <dc:subject>PptxGenJS Presentation</dc:subject>
  <dc:creator>PptxGenJS</dc:creator>
  <cp:lastModifiedBy>Scott Cornell</cp:lastModifiedBy>
  <cp:revision>7</cp:revision>
  <dcterms:created xsi:type="dcterms:W3CDTF">2026-02-24T15:39:25Z</dcterms:created>
  <dcterms:modified xsi:type="dcterms:W3CDTF">2026-02-27T18:53:48Z</dcterms:modified>
</cp:coreProperties>
</file>